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CF83FC-4843-4AEB-8AA5-D8CFD1982C8D}" v="4" dt="2026-10-25T05:06:07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ker Dwivedi" userId="14fc703eb3b8c20d" providerId="LiveId" clId="{9D419376-2B0E-47A6-89F3-1E87AE99256A}"/>
    <pc:docChg chg="modSld">
      <pc:chgData name="Hecker Dwivedi" userId="14fc703eb3b8c20d" providerId="LiveId" clId="{9D419376-2B0E-47A6-89F3-1E87AE99256A}" dt="2026-10-25T05:12:12.912" v="257" actId="1035"/>
      <pc:docMkLst>
        <pc:docMk/>
      </pc:docMkLst>
      <pc:sldChg chg="addSp modSp mod">
        <pc:chgData name="Hecker Dwivedi" userId="14fc703eb3b8c20d" providerId="LiveId" clId="{9D419376-2B0E-47A6-89F3-1E87AE99256A}" dt="2026-10-25T05:11:31.647" v="214" actId="207"/>
        <pc:sldMkLst>
          <pc:docMk/>
          <pc:sldMk cId="0" sldId="256"/>
        </pc:sldMkLst>
        <pc:spChg chg="mod">
          <ac:chgData name="Hecker Dwivedi" userId="14fc703eb3b8c20d" providerId="LiveId" clId="{9D419376-2B0E-47A6-89F3-1E87AE99256A}" dt="2026-10-25T05:11:31.647" v="214" actId="207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Hecker Dwivedi" userId="14fc703eb3b8c20d" providerId="LiveId" clId="{9D419376-2B0E-47A6-89F3-1E87AE99256A}" dt="2026-10-25T05:11:08.429" v="213" actId="1037"/>
          <ac:picMkLst>
            <pc:docMk/>
            <pc:sldMk cId="0" sldId="256"/>
            <ac:picMk id="5" creationId="{3421D0E4-D297-2A55-CF33-307C944F1210}"/>
          </ac:picMkLst>
        </pc:picChg>
      </pc:sldChg>
      <pc:sldChg chg="addSp modSp mod">
        <pc:chgData name="Hecker Dwivedi" userId="14fc703eb3b8c20d" providerId="LiveId" clId="{9D419376-2B0E-47A6-89F3-1E87AE99256A}" dt="2026-10-25T05:12:12.912" v="257" actId="1035"/>
        <pc:sldMkLst>
          <pc:docMk/>
          <pc:sldMk cId="0" sldId="257"/>
        </pc:sldMkLst>
        <pc:picChg chg="add mod">
          <ac:chgData name="Hecker Dwivedi" userId="14fc703eb3b8c20d" providerId="LiveId" clId="{9D419376-2B0E-47A6-89F3-1E87AE99256A}" dt="2026-10-25T05:12:12.912" v="257" actId="1035"/>
          <ac:picMkLst>
            <pc:docMk/>
            <pc:sldMk cId="0" sldId="257"/>
            <ac:picMk id="5" creationId="{BA83FCCE-F850-FCBC-2F32-A66B91AB41AD}"/>
          </ac:picMkLst>
        </pc:picChg>
      </pc:sldChg>
      <pc:sldChg chg="modSp mod">
        <pc:chgData name="Hecker Dwivedi" userId="14fc703eb3b8c20d" providerId="LiveId" clId="{9D419376-2B0E-47A6-89F3-1E87AE99256A}" dt="2026-10-25T04:57:37.427" v="5" actId="115"/>
        <pc:sldMkLst>
          <pc:docMk/>
          <pc:sldMk cId="0" sldId="258"/>
        </pc:sldMkLst>
        <pc:spChg chg="mod">
          <ac:chgData name="Hecker Dwivedi" userId="14fc703eb3b8c20d" providerId="LiveId" clId="{9D419376-2B0E-47A6-89F3-1E87AE99256A}" dt="2026-10-25T04:57:37.427" v="5" actId="115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Hecker Dwivedi" userId="14fc703eb3b8c20d" providerId="LiveId" clId="{9D419376-2B0E-47A6-89F3-1E87AE99256A}" dt="2026-10-25T04:58:40.225" v="16" actId="14100"/>
        <pc:sldMkLst>
          <pc:docMk/>
          <pc:sldMk cId="0" sldId="259"/>
        </pc:sldMkLst>
        <pc:spChg chg="mod">
          <ac:chgData name="Hecker Dwivedi" userId="14fc703eb3b8c20d" providerId="LiveId" clId="{9D419376-2B0E-47A6-89F3-1E87AE99256A}" dt="2026-10-25T04:58:07.912" v="11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Hecker Dwivedi" userId="14fc703eb3b8c20d" providerId="LiveId" clId="{9D419376-2B0E-47A6-89F3-1E87AE99256A}" dt="2026-10-25T04:58:19.559" v="13" actId="1076"/>
          <ac:spMkLst>
            <pc:docMk/>
            <pc:sldMk cId="0" sldId="259"/>
            <ac:spMk id="8" creationId="{2D522B51-9CE4-5BD4-7F32-9C3D089C05EB}"/>
          </ac:spMkLst>
        </pc:spChg>
        <pc:graphicFrameChg chg="mod modGraphic">
          <ac:chgData name="Hecker Dwivedi" userId="14fc703eb3b8c20d" providerId="LiveId" clId="{9D419376-2B0E-47A6-89F3-1E87AE99256A}" dt="2026-10-25T04:58:40.225" v="16" actId="14100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  <pc:sldChg chg="addSp modSp mod">
        <pc:chgData name="Hecker Dwivedi" userId="14fc703eb3b8c20d" providerId="LiveId" clId="{9D419376-2B0E-47A6-89F3-1E87AE99256A}" dt="2026-10-25T05:06:56.094" v="185" actId="122"/>
        <pc:sldMkLst>
          <pc:docMk/>
          <pc:sldMk cId="0" sldId="260"/>
        </pc:sldMkLst>
        <pc:spChg chg="mod">
          <ac:chgData name="Hecker Dwivedi" userId="14fc703eb3b8c20d" providerId="LiveId" clId="{9D419376-2B0E-47A6-89F3-1E87AE99256A}" dt="2026-10-25T04:59:35.664" v="22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Hecker Dwivedi" userId="14fc703eb3b8c20d" providerId="LiveId" clId="{9D419376-2B0E-47A6-89F3-1E87AE99256A}" dt="2026-10-25T05:03:39.492" v="36" actId="21"/>
          <ac:spMkLst>
            <pc:docMk/>
            <pc:sldMk cId="0" sldId="260"/>
            <ac:spMk id="3" creationId="{00000000-0000-0000-0000-000000000000}"/>
          </ac:spMkLst>
        </pc:spChg>
        <pc:spChg chg="mod">
          <ac:chgData name="Hecker Dwivedi" userId="14fc703eb3b8c20d" providerId="LiveId" clId="{9D419376-2B0E-47A6-89F3-1E87AE99256A}" dt="2026-10-25T05:04:58.458" v="56" actId="403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Hecker Dwivedi" userId="14fc703eb3b8c20d" providerId="LiveId" clId="{9D419376-2B0E-47A6-89F3-1E87AE99256A}" dt="2026-10-25T05:06:56.094" v="185" actId="122"/>
          <ac:spMkLst>
            <pc:docMk/>
            <pc:sldMk cId="0" sldId="260"/>
            <ac:spMk id="7" creationId="{CFE90B70-A027-4769-C0AF-175183658B84}"/>
          </ac:spMkLst>
        </pc:spChg>
        <pc:picChg chg="add mod">
          <ac:chgData name="Hecker Dwivedi" userId="14fc703eb3b8c20d" providerId="LiveId" clId="{9D419376-2B0E-47A6-89F3-1E87AE99256A}" dt="2026-10-25T05:04:22.268" v="51" actId="1035"/>
          <ac:picMkLst>
            <pc:docMk/>
            <pc:sldMk cId="0" sldId="260"/>
            <ac:picMk id="6" creationId="{5110B337-61E7-5F8A-1D39-0956C93E3D18}"/>
          </ac:picMkLst>
        </pc:picChg>
      </pc:sldChg>
      <pc:sldChg chg="modSp mod">
        <pc:chgData name="Hecker Dwivedi" userId="14fc703eb3b8c20d" providerId="LiveId" clId="{9D419376-2B0E-47A6-89F3-1E87AE99256A}" dt="2026-10-25T05:00:10.369" v="29" actId="404"/>
        <pc:sldMkLst>
          <pc:docMk/>
          <pc:sldMk cId="0" sldId="261"/>
        </pc:sldMkLst>
        <pc:spChg chg="mod">
          <ac:chgData name="Hecker Dwivedi" userId="14fc703eb3b8c20d" providerId="LiveId" clId="{9D419376-2B0E-47A6-89F3-1E87AE99256A}" dt="2026-10-25T05:00:10.369" v="29" actId="404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Hecker Dwivedi" userId="14fc703eb3b8c20d" providerId="LiveId" clId="{9D419376-2B0E-47A6-89F3-1E87AE99256A}" dt="2026-10-25T05:00:44.887" v="35" actId="403"/>
        <pc:sldMkLst>
          <pc:docMk/>
          <pc:sldMk cId="0" sldId="263"/>
        </pc:sldMkLst>
        <pc:spChg chg="mod">
          <ac:chgData name="Hecker Dwivedi" userId="14fc703eb3b8c20d" providerId="LiveId" clId="{9D419376-2B0E-47A6-89F3-1E87AE99256A}" dt="2026-10-25T05:00:44.887" v="35" actId="403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1371600"/>
            <a:ext cx="4114800" cy="4114800"/>
          </a:xfrm>
          <a:prstGeom prst="ellipse">
            <a:avLst/>
          </a:prstGeom>
          <a:solidFill>
            <a:srgbClr val="19191C"/>
          </a:solidFill>
          <a:ln w="190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94360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0F0F0"/>
                </a:solidFill>
                <a:latin typeface="Georgia"/>
              </a:defRPr>
            </a:pPr>
            <a:r>
              <a:rPr dirty="0"/>
              <a:t>Project C.E.N.T.R.I.F.U.G.E</a:t>
            </a:r>
          </a:p>
          <a:p>
            <a:pPr>
              <a:spcBef>
                <a:spcPts val="1400"/>
              </a:spcBef>
              <a:defRPr sz="1800">
                <a:solidFill>
                  <a:srgbClr val="64B4F0"/>
                </a:solidFill>
                <a:latin typeface="Georgia"/>
              </a:defRPr>
            </a:pPr>
            <a:r>
              <a:rPr dirty="0"/>
              <a:t>Centrifugal Extraction, Magnetic Sorting &amp; Steam-Propelled In-Situ Utilization</a:t>
            </a:r>
          </a:p>
          <a:p>
            <a:pPr>
              <a:spcBef>
                <a:spcPts val="2400"/>
              </a:spcBef>
              <a:defRPr sz="1500" i="1">
                <a:solidFill>
                  <a:srgbClr val="A0A0A0"/>
                </a:solidFill>
                <a:latin typeface="Georgia"/>
              </a:defRPr>
            </a:pPr>
            <a:r>
              <a:rPr dirty="0">
                <a:solidFill>
                  <a:srgbClr val="00B050"/>
                </a:solidFill>
              </a:rPr>
              <a:t>“Mining the Outer Rim without drills, without fuel, and without going broke.”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21D0E4-D297-2A55-CF33-307C944F1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118" y="1304313"/>
            <a:ext cx="5141344" cy="44840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259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Georgia"/>
              </a:defRPr>
            </a:pPr>
            <a:r>
              <a:rPr u="sng" dirty="0">
                <a:solidFill>
                  <a:srgbClr val="00B0F0"/>
                </a:solidFill>
              </a:rPr>
              <a:t>Rethinking Asteroid Extraction</a:t>
            </a:r>
          </a:p>
          <a:p>
            <a:pPr>
              <a:spcBef>
                <a:spcPts val="800"/>
              </a:spcBef>
              <a:defRPr sz="1800">
                <a:solidFill>
                  <a:srgbClr val="A0A0A0"/>
                </a:solidFill>
                <a:latin typeface="Georgia"/>
              </a:defRPr>
            </a:pPr>
            <a:r>
              <a:rPr lang="en-IN" sz="2400" dirty="0">
                <a:solidFill>
                  <a:srgbClr val="00B050"/>
                </a:solidFill>
                <a:latin typeface="Felix Titling" panose="04060505060202020A04" pitchFamily="82" charset="0"/>
              </a:rPr>
              <a:t>Physics over brute force</a:t>
            </a:r>
            <a:endParaRPr sz="2400" dirty="0">
              <a:solidFill>
                <a:srgbClr val="00B050"/>
              </a:solidFill>
              <a:latin typeface="Felix Titling" panose="04060505060202020A04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26126"/>
            <a:ext cx="5486400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endParaRPr dirty="0"/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dirty="0"/>
              <a:t>• A custom Kevlar 'Bola-Net' wraps the asteroid entirely without relying on invasive harpoons.</a:t>
            </a:r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dirty="0"/>
              <a:t>• Inflatable Fresnel lenses completely replace heavy, cost-prohibitive nuclear thermal architectures.</a:t>
            </a:r>
            <a:r>
              <a:rPr lang="en-IN" dirty="0"/>
              <a:t>(breaks into smaller pieces.)</a:t>
            </a:r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lang="en-US" dirty="0"/>
              <a:t>• Our Mothership/Spaceship operates around the asteroid by hovering over and enclosing it by a few Hundred meters away.</a:t>
            </a:r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lang="en-US" dirty="0"/>
              <a:t>• We can also get help from our small , expendable and autonomous drones near the Spaceship.</a:t>
            </a:r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lang="en-US" dirty="0"/>
              <a:t>• The floating mixture is then kept in the cooling chamber by which hot water quickly cools down into liquid water, then the liquid water is </a:t>
            </a:r>
            <a:r>
              <a:rPr lang="en-US" dirty="0" err="1"/>
              <a:t>splitted</a:t>
            </a:r>
            <a:r>
              <a:rPr lang="en-US" dirty="0"/>
              <a:t> using electricity into liquid hydrogen and oxygen, i.e. High Grade Rocket Fuel</a:t>
            </a:r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lang="en-US" dirty="0"/>
              <a:t>• </a:t>
            </a:r>
            <a:r>
              <a:rPr lang="en-US" dirty="0" err="1"/>
              <a:t>Vapour</a:t>
            </a:r>
            <a:r>
              <a:rPr lang="en-US" dirty="0"/>
              <a:t> metallurgy can help us to get pure iron, platinum and nickel</a:t>
            </a:r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endParaRPr lang="en-US" dirty="0"/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endParaRPr lang="en-IN" dirty="0"/>
          </a:p>
          <a:p>
            <a:pPr>
              <a:spcAft>
                <a:spcPts val="16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3FCCE-F850-FCBC-2F32-A66B91AB4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555" y="1286512"/>
            <a:ext cx="5686532" cy="4908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259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Georgia"/>
              </a:defRPr>
            </a:pPr>
            <a:r>
              <a:rPr u="sng" dirty="0">
                <a:solidFill>
                  <a:srgbClr val="00B0F0"/>
                </a:solidFill>
              </a:rPr>
              <a:t>The 4-Stage Contactless Sorter</a:t>
            </a:r>
          </a:p>
          <a:p>
            <a:pPr>
              <a:spcBef>
                <a:spcPts val="800"/>
              </a:spcBef>
              <a:defRPr sz="1800">
                <a:solidFill>
                  <a:srgbClr val="A0A0A0"/>
                </a:solidFill>
                <a:latin typeface="Georgia"/>
              </a:defRPr>
            </a:pPr>
            <a:r>
              <a:rPr sz="2400" dirty="0">
                <a:solidFill>
                  <a:srgbClr val="00B050"/>
                </a:solidFill>
                <a:latin typeface="Felix Titling" panose="04060505060202020A04" pitchFamily="82" charset="0"/>
              </a:rPr>
              <a:t>Fluidic &amp; Electromagnetic Separation Flow</a:t>
            </a:r>
            <a:endParaRPr dirty="0">
              <a:solidFill>
                <a:srgbClr val="00B050"/>
              </a:solidFill>
              <a:latin typeface="Felix Titling" panose="04060505060202020A04" pitchFamily="8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560320" cy="34747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400" b="1">
                <a:solidFill>
                  <a:srgbClr val="E6B450"/>
                </a:solidFill>
                <a:latin typeface="Georgia"/>
              </a:defRPr>
            </a:pPr>
            <a:r>
              <a:t>Stage 1</a:t>
            </a:r>
          </a:p>
          <a:p>
            <a:pPr>
              <a:spcBef>
                <a:spcPts val="800"/>
              </a:spcBef>
              <a:defRPr sz="1500" b="1">
                <a:solidFill>
                  <a:srgbClr val="F0F0F0"/>
                </a:solidFill>
                <a:latin typeface="Georgia"/>
              </a:defRPr>
            </a:pPr>
            <a:r>
              <a:t>150°C Solar Bake-Off</a:t>
            </a:r>
          </a:p>
          <a:p>
            <a:pPr>
              <a:spcBef>
                <a:spcPts val="1200"/>
              </a:spcBef>
              <a:defRPr sz="1300">
                <a:solidFill>
                  <a:srgbClr val="A0A0A0"/>
                </a:solidFill>
                <a:latin typeface="Georgia"/>
              </a:defRPr>
            </a:pPr>
            <a:r>
              <a:t>Sunlight turns ice to steam, piped directly to cold-traps.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194560"/>
            <a:ext cx="2560320" cy="34747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64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400" b="1">
                <a:solidFill>
                  <a:srgbClr val="64B4F0"/>
                </a:solidFill>
                <a:latin typeface="Georgia"/>
              </a:defRPr>
            </a:pPr>
            <a:r>
              <a:t>Stage 2</a:t>
            </a:r>
          </a:p>
          <a:p>
            <a:pPr>
              <a:spcBef>
                <a:spcPts val="800"/>
              </a:spcBef>
              <a:defRPr sz="1500" b="1">
                <a:solidFill>
                  <a:srgbClr val="F0F0F0"/>
                </a:solidFill>
                <a:latin typeface="Georgia"/>
              </a:defRPr>
            </a:pPr>
            <a:r>
              <a:t>DC Electromagnet</a:t>
            </a:r>
          </a:p>
          <a:p>
            <a:pPr>
              <a:spcBef>
                <a:spcPts val="1200"/>
              </a:spcBef>
              <a:defRPr sz="1300">
                <a:solidFill>
                  <a:srgbClr val="A0A0A0"/>
                </a:solidFill>
                <a:latin typeface="Georgia"/>
              </a:defRPr>
            </a:pPr>
            <a:r>
              <a:t>Separates and pulls loose Iron/Nickel into targeted Bin 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194560"/>
            <a:ext cx="2560320" cy="34747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400" b="1">
                <a:solidFill>
                  <a:srgbClr val="E6B450"/>
                </a:solidFill>
                <a:latin typeface="Georgia"/>
              </a:defRPr>
            </a:pPr>
            <a:r>
              <a:t>Stage 3</a:t>
            </a:r>
          </a:p>
          <a:p>
            <a:pPr>
              <a:spcBef>
                <a:spcPts val="800"/>
              </a:spcBef>
              <a:defRPr sz="1500" b="1">
                <a:solidFill>
                  <a:srgbClr val="F0F0F0"/>
                </a:solidFill>
                <a:latin typeface="Georgia"/>
              </a:defRPr>
            </a:pPr>
            <a:r>
              <a:t>Eddy Current Sorter</a:t>
            </a:r>
          </a:p>
          <a:p>
            <a:pPr>
              <a:spcBef>
                <a:spcPts val="1200"/>
              </a:spcBef>
              <a:defRPr sz="1300">
                <a:solidFill>
                  <a:srgbClr val="A0A0A0"/>
                </a:solidFill>
                <a:latin typeface="Georgia"/>
              </a:defRPr>
            </a:pPr>
            <a:r>
              <a:t>Lenz's Law kicks Platinum into Bin B; waste rocks drop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2194560"/>
            <a:ext cx="2560320" cy="347472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64B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400" b="1">
                <a:solidFill>
                  <a:srgbClr val="64B4F0"/>
                </a:solidFill>
                <a:latin typeface="Georgia"/>
              </a:defRPr>
            </a:pPr>
            <a:r>
              <a:t>Stage 4</a:t>
            </a:r>
          </a:p>
          <a:p>
            <a:pPr>
              <a:spcBef>
                <a:spcPts val="800"/>
              </a:spcBef>
              <a:defRPr sz="1500" b="1">
                <a:solidFill>
                  <a:srgbClr val="F0F0F0"/>
                </a:solidFill>
                <a:latin typeface="Georgia"/>
              </a:defRPr>
            </a:pPr>
            <a:r>
              <a:t>Solar Sintering</a:t>
            </a:r>
          </a:p>
          <a:p>
            <a:pPr>
              <a:spcBef>
                <a:spcPts val="1200"/>
              </a:spcBef>
              <a:defRPr sz="1300">
                <a:solidFill>
                  <a:srgbClr val="A0A0A0"/>
                </a:solidFill>
                <a:latin typeface="Georgia"/>
              </a:defRPr>
            </a:pPr>
            <a:r>
              <a:t>Sunlight 3D-prints refined structure in active orbit.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259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Georgia"/>
              </a:defRPr>
            </a:pPr>
            <a:r>
              <a:rPr u="sng" dirty="0">
                <a:solidFill>
                  <a:srgbClr val="00B0F0"/>
                </a:solidFill>
              </a:rPr>
              <a:t>Breaking the Bottleneck &amp; Slaying Costs</a:t>
            </a:r>
          </a:p>
          <a:p>
            <a:pPr>
              <a:spcBef>
                <a:spcPts val="800"/>
              </a:spcBef>
              <a:defRPr sz="1800">
                <a:solidFill>
                  <a:srgbClr val="A0A0A0"/>
                </a:solidFill>
                <a:latin typeface="Georgia"/>
              </a:defRPr>
            </a:pPr>
            <a:r>
              <a:rPr sz="2400" dirty="0">
                <a:solidFill>
                  <a:srgbClr val="00B050"/>
                </a:solidFill>
                <a:latin typeface="Felix Titling" panose="04060505060202020A04" pitchFamily="82" charset="0"/>
              </a:rPr>
              <a:t>Eliminating moving parts subject to vacuum jamming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749182"/>
              </p:ext>
            </p:extLst>
          </p:nvPr>
        </p:nvGraphicFramePr>
        <p:xfrm>
          <a:off x="579812" y="1828800"/>
          <a:ext cx="990128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6B450"/>
                          </a:solidFill>
                          <a:latin typeface="Georgia"/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6B450"/>
                          </a:solidFill>
                          <a:latin typeface="Georgia"/>
                        </a:defRPr>
                      </a:pPr>
                      <a:r>
                        <a:rPr dirty="0"/>
                        <a:t>Conventional Architecture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6B450"/>
                          </a:solidFill>
                          <a:latin typeface="Georgia"/>
                        </a:defRPr>
                      </a:pPr>
                      <a:r>
                        <a:rPr dirty="0"/>
                        <a:t>C.E.N.T.R.I.F.U.G.E. System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4B4F0"/>
                          </a:solidFill>
                          <a:latin typeface="Georgia"/>
                        </a:defRPr>
                      </a:pPr>
                      <a:r>
                        <a:rPr dirty="0"/>
                        <a:t>Digging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0"/>
                          </a:solidFill>
                          <a:latin typeface="Georgia"/>
                        </a:defRPr>
                      </a:pPr>
                      <a:r>
                        <a:rPr dirty="0"/>
                        <a:t>Mechanical Drills (High Wear)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0"/>
                          </a:solidFill>
                          <a:latin typeface="Georgia"/>
                        </a:defRPr>
                      </a:pPr>
                      <a:r>
                        <a:t>Centrifugal Net (Contactless)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4B4F0"/>
                          </a:solidFill>
                          <a:latin typeface="Georgia"/>
                        </a:defRPr>
                      </a:pPr>
                      <a:r>
                        <a:t>Refining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0"/>
                          </a:solidFill>
                          <a:latin typeface="Georgia"/>
                        </a:defRPr>
                      </a:pPr>
                      <a:r>
                        <a:t>1500°C Carbon Arc Furnaces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0"/>
                          </a:solidFill>
                          <a:latin typeface="Georgia"/>
                        </a:defRPr>
                      </a:pPr>
                      <a:r>
                        <a:t>Passive Magnetic &amp; Eddy Sorter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64B4F0"/>
                          </a:solidFill>
                          <a:latin typeface="Georgia"/>
                        </a:defRPr>
                      </a:pPr>
                      <a:r>
                        <a:rPr dirty="0"/>
                        <a:t>Earth Return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0"/>
                          </a:solidFill>
                          <a:latin typeface="Georgia"/>
                        </a:defRPr>
                      </a:pPr>
                      <a:r>
                        <a:rPr dirty="0"/>
                        <a:t>Expensive Manufactured Heatshields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0F0F0"/>
                          </a:solidFill>
                          <a:latin typeface="Georgia"/>
                        </a:defRPr>
                      </a:pPr>
                      <a:r>
                        <a:rPr dirty="0"/>
                        <a:t>Free Sintered Pykrete Pods</a:t>
                      </a:r>
                    </a:p>
                  </a:txBody>
                  <a:tcPr>
                    <a:solidFill>
                      <a:srgbClr val="1212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2018AFE-72BC-1316-6787-E5B1517F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0155" y="5775267"/>
            <a:ext cx="3231573" cy="205740"/>
          </a:xfrm>
        </p:spPr>
        <p:txBody>
          <a:bodyPr>
            <a:normAutofit fontScale="90000"/>
          </a:bodyPr>
          <a:lstStyle/>
          <a:p>
            <a:r>
              <a:rPr lang="en-IN" dirty="0"/>
              <a:t>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522B51-9CE4-5BD4-7F32-9C3D089C0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5201688"/>
            <a:ext cx="8229600" cy="155863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    •</a:t>
            </a:r>
            <a:r>
              <a:rPr lang="en-US" sz="2400" dirty="0">
                <a:solidFill>
                  <a:schemeClr val="bg1"/>
                </a:solidFill>
              </a:rPr>
              <a:t> For profit and cost efficiency we can use pure iron and nickel      	to build space stations, satellite frames and spaceship fuels</a:t>
            </a:r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10259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Georgia"/>
              </a:defRPr>
            </a:pPr>
            <a:r>
              <a:rPr u="sng" dirty="0">
                <a:solidFill>
                  <a:srgbClr val="00B0F0"/>
                </a:solidFill>
              </a:rPr>
              <a:t>Slashing the 3 Major Cost Drivers</a:t>
            </a:r>
          </a:p>
          <a:p>
            <a:pPr>
              <a:spcBef>
                <a:spcPts val="800"/>
              </a:spcBef>
              <a:defRPr sz="1800">
                <a:solidFill>
                  <a:srgbClr val="A0A0A0"/>
                </a:solidFill>
                <a:latin typeface="Georgia"/>
              </a:defRPr>
            </a:pPr>
            <a:r>
              <a:rPr sz="2400" dirty="0">
                <a:solidFill>
                  <a:srgbClr val="00B050"/>
                </a:solidFill>
                <a:latin typeface="Felix Titling" panose="04060505060202020A04" pitchFamily="82" charset="0"/>
              </a:rPr>
              <a:t>Optimized mass and materials utilization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79" y="2011680"/>
            <a:ext cx="3931920" cy="3931920"/>
          </a:xfrm>
          <a:prstGeom prst="rect">
            <a:avLst/>
          </a:prstGeom>
          <a:solidFill>
            <a:srgbClr val="141416"/>
          </a:solidFill>
          <a:ln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E6B450"/>
                </a:solidFill>
                <a:latin typeface="Georgia"/>
              </a:defRPr>
            </a:pP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dirty="0"/>
              <a:t>• Launch Mass Reduction: Drops instantly with 50kg inflatable Fresnel lenses instead of multi-ton traditional smelting furnaces.</a:t>
            </a:r>
          </a:p>
          <a:p>
            <a:pPr>
              <a:spcAft>
                <a:spcPts val="18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dirty="0"/>
              <a:t>• In-Situ Return Propellant: Powered cleanly by a solar-thermal steam rocket boiling the asteroid's harvested water reserves.</a:t>
            </a:r>
          </a:p>
          <a:p>
            <a:pPr>
              <a:spcAft>
                <a:spcPts val="18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r>
              <a:rPr dirty="0"/>
              <a:t>• Zero-Cost Re-entry Vehicles: Utilizes Pykrete built from local rock dust and water as a free, expendable shield for precious cargo return.</a:t>
            </a:r>
            <a:endParaRPr lang="en-IN" dirty="0"/>
          </a:p>
          <a:p>
            <a:pPr>
              <a:defRPr sz="2000" b="1">
                <a:solidFill>
                  <a:srgbClr val="E6B450"/>
                </a:solidFill>
                <a:latin typeface="Georgia"/>
              </a:defRPr>
            </a:pPr>
            <a:endParaRPr lang="en-IN" dirty="0"/>
          </a:p>
          <a:p>
            <a:pPr>
              <a:defRPr sz="2000" b="1">
                <a:solidFill>
                  <a:srgbClr val="E6B450"/>
                </a:solidFill>
                <a:latin typeface="Georgia"/>
              </a:defRPr>
            </a:pPr>
            <a:r>
              <a:rPr lang="en-US" sz="2400" dirty="0"/>
              <a:t>Risk Mitigation Framework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  <a:latin typeface="Georgia"/>
              </a:defRPr>
            </a:pPr>
            <a:r>
              <a:rPr lang="en-US" dirty="0"/>
              <a:t>• 'Dry Rock' Scenario: Sinter silicates directly into heavy-duty 'Orbital Armor Tiles' to monetize as high-demand debris shielding.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  <a:latin typeface="Georgia"/>
              </a:defRPr>
            </a:pPr>
            <a:r>
              <a:rPr lang="en-US" dirty="0"/>
              <a:t>• Market Price Collapses: Leverage Orbital Vaulting mechanics to store up to 80% of asset volume at L1, releasing carefully timed supply batches.</a:t>
            </a:r>
          </a:p>
          <a:p>
            <a:pPr>
              <a:spcAft>
                <a:spcPts val="1800"/>
              </a:spcAft>
              <a:defRPr sz="1500">
                <a:solidFill>
                  <a:srgbClr val="F0F0F0"/>
                </a:solidFill>
                <a:latin typeface="Georgia"/>
              </a:defRPr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0B337-61E7-5F8A-1D39-0956C93E3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705" y="2022032"/>
            <a:ext cx="3931920" cy="3931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90B70-A027-4769-C0AF-175183658B84}"/>
              </a:ext>
            </a:extLst>
          </p:cNvPr>
          <p:cNvSpPr txBox="1"/>
          <p:nvPr/>
        </p:nvSpPr>
        <p:spPr>
          <a:xfrm>
            <a:off x="7392838" y="6159260"/>
            <a:ext cx="4067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u="sng" dirty="0">
                <a:solidFill>
                  <a:schemeClr val="accent6">
                    <a:lumMod val="75000"/>
                  </a:schemeClr>
                </a:solidFill>
              </a:rPr>
              <a:t>Solar-Thermal Steam Propulsion Engine</a:t>
            </a:r>
            <a:endParaRPr lang="en-IN" u="sng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643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Georgia"/>
              </a:defRPr>
            </a:pPr>
            <a:r>
              <a:rPr u="sng" dirty="0">
                <a:solidFill>
                  <a:srgbClr val="00B0F0"/>
                </a:solidFill>
              </a:rPr>
              <a:t>The 'Split-Market' Business Strategy</a:t>
            </a:r>
          </a:p>
          <a:p>
            <a:pPr>
              <a:spcBef>
                <a:spcPts val="800"/>
              </a:spcBef>
              <a:defRPr sz="1800">
                <a:solidFill>
                  <a:srgbClr val="A0A0A0"/>
                </a:solidFill>
                <a:latin typeface="Georgia"/>
              </a:defRPr>
            </a:pPr>
            <a:r>
              <a:rPr sz="2000" dirty="0">
                <a:solidFill>
                  <a:srgbClr val="00B050"/>
                </a:solidFill>
                <a:latin typeface="Felix Titling" panose="04060505060202020A04" pitchFamily="82" charset="0"/>
              </a:rPr>
              <a:t>Strategic logistical arbitrage between orbit and Earth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" y="1747751"/>
            <a:ext cx="1069848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0F0F0"/>
                </a:solidFill>
                <a:latin typeface="Georgia"/>
              </a:defRPr>
            </a:pPr>
            <a:r>
              <a:rPr dirty="0"/>
              <a:t>• Target Commodities: Highly focused extraction of Water Ice, Iron/Nickel structural ore, and Platinum-Group Metals.</a:t>
            </a:r>
          </a:p>
          <a:p>
            <a:pPr>
              <a:spcAft>
                <a:spcPts val="1600"/>
              </a:spcAft>
              <a:defRPr sz="1600">
                <a:solidFill>
                  <a:srgbClr val="F0F0F0"/>
                </a:solidFill>
                <a:latin typeface="Georgia"/>
              </a:defRPr>
            </a:pPr>
            <a:r>
              <a:rPr dirty="0"/>
              <a:t>• Primary Customer Base: Orbital space stations, deep-space satellite operators, green-tech companies, and advanced manufacturing.</a:t>
            </a:r>
          </a:p>
          <a:p>
            <a:pPr>
              <a:spcAft>
                <a:spcPts val="1600"/>
              </a:spcAft>
              <a:defRPr sz="1600">
                <a:solidFill>
                  <a:srgbClr val="F0F0F0"/>
                </a:solidFill>
                <a:latin typeface="Georgia"/>
              </a:defRPr>
            </a:pPr>
            <a:r>
              <a:rPr dirty="0"/>
              <a:t>• In-Space Arbitrage (L1): Water and iron supply undercuts baseline Earth-launch prices ($2,000/kg) by a massive 50%.</a:t>
            </a:r>
          </a:p>
          <a:p>
            <a:pPr>
              <a:spcAft>
                <a:spcPts val="1600"/>
              </a:spcAft>
              <a:defRPr sz="1600">
                <a:solidFill>
                  <a:srgbClr val="F0F0F0"/>
                </a:solidFill>
                <a:latin typeface="Georgia"/>
              </a:defRPr>
            </a:pPr>
            <a:r>
              <a:rPr dirty="0"/>
              <a:t>• Terrestrial Return Model: Only hyper-valuable Platinum ($50,000/kg) is transferred directly to Earth using low-cost Pykrete drop pods.</a:t>
            </a:r>
            <a:endParaRPr lang="en-IN" dirty="0"/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  <a:latin typeface="Georgia"/>
              </a:defRPr>
            </a:pPr>
            <a:r>
              <a:rPr lang="en-IN" sz="1600" dirty="0"/>
              <a:t>• Orbital Petrol Pump: Allows strategic satellite networks to pre-purchase standardized water and steam refill tokens.</a:t>
            </a:r>
          </a:p>
          <a:p>
            <a:pPr>
              <a:spcBef>
                <a:spcPts val="1200"/>
              </a:spcBef>
              <a:defRPr sz="1400">
                <a:solidFill>
                  <a:srgbClr val="F0F0F0"/>
                </a:solidFill>
                <a:latin typeface="Georgia"/>
              </a:defRPr>
            </a:pPr>
            <a:r>
              <a:rPr lang="en-IN" sz="1600" dirty="0"/>
              <a:t>• Platinum Batch Auctions: Generates strong recurring cash flow via bi-annual auctioning of returned cargo pods to land-based refiners.</a:t>
            </a:r>
          </a:p>
          <a:p>
            <a:pPr>
              <a:spcAft>
                <a:spcPts val="1600"/>
              </a:spcAft>
              <a:defRPr sz="1600">
                <a:solidFill>
                  <a:srgbClr val="F0F0F0"/>
                </a:solidFill>
                <a:latin typeface="Georgia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60320"/>
            <a:ext cx="1069848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1">
                <a:solidFill>
                  <a:srgbClr val="E6B450"/>
                </a:solidFill>
                <a:latin typeface="Georgia"/>
              </a:defRPr>
            </a:pPr>
            <a:r>
              <a:rPr dirty="0"/>
              <a:t>“Never tell us the odds.”</a:t>
            </a:r>
          </a:p>
          <a:p>
            <a:pPr algn="ctr">
              <a:spcBef>
                <a:spcPts val="1400"/>
              </a:spcBef>
              <a:defRPr sz="2000">
                <a:solidFill>
                  <a:srgbClr val="F0F0F0"/>
                </a:solidFill>
                <a:latin typeface="Georgia"/>
              </a:defRPr>
            </a:pPr>
            <a:r>
              <a:rPr dirty="0"/>
              <a:t>Ready for the Falcon's first profitable run.</a:t>
            </a:r>
            <a:endParaRPr lang="en-IN" dirty="0"/>
          </a:p>
          <a:p>
            <a:pPr algn="ctr">
              <a:spcBef>
                <a:spcPts val="1400"/>
              </a:spcBef>
              <a:defRPr sz="2000">
                <a:solidFill>
                  <a:srgbClr val="F0F0F0"/>
                </a:solidFill>
                <a:latin typeface="Georgia"/>
              </a:defRPr>
            </a:pPr>
            <a:r>
              <a:rPr lang="en-IN" sz="2400" dirty="0"/>
              <a:t>Team</a:t>
            </a:r>
            <a:r>
              <a:rPr lang="en-IN" dirty="0"/>
              <a:t> </a:t>
            </a:r>
            <a:r>
              <a:rPr lang="en-IN" sz="2400" dirty="0">
                <a:solidFill>
                  <a:srgbClr val="00B0F0"/>
                </a:solidFill>
              </a:rPr>
              <a:t>Jugaad.exe</a:t>
            </a:r>
            <a:endParaRPr lang="en-IN" dirty="0">
              <a:solidFill>
                <a:srgbClr val="00B0F0"/>
              </a:solidFill>
            </a:endParaRPr>
          </a:p>
          <a:p>
            <a:pPr algn="ctr">
              <a:spcBef>
                <a:spcPts val="1400"/>
              </a:spcBef>
              <a:defRPr sz="2000">
                <a:solidFill>
                  <a:srgbClr val="F0F0F0"/>
                </a:solidFill>
                <a:latin typeface="Georgia"/>
              </a:defRPr>
            </a:pPr>
            <a:r>
              <a:rPr lang="en-IN" sz="2400" dirty="0">
                <a:solidFill>
                  <a:srgbClr val="00B050"/>
                </a:solidFill>
              </a:rPr>
              <a:t>Thank You</a:t>
            </a:r>
          </a:p>
          <a:p>
            <a:pPr algn="ctr">
              <a:spcBef>
                <a:spcPts val="1400"/>
              </a:spcBef>
              <a:defRPr sz="2000">
                <a:solidFill>
                  <a:srgbClr val="F0F0F0"/>
                </a:solidFill>
                <a:latin typeface="Georgia"/>
              </a:defRPr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649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Felix Titling</vt:lpstr>
      <vt:lpstr>Office Theme</vt:lpstr>
      <vt:lpstr>PowerPoint Presentation</vt:lpstr>
      <vt:lpstr>PowerPoint Presentation</vt:lpstr>
      <vt:lpstr>PowerPoint Presentation</vt:lpstr>
      <vt:lpstr>h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Hecker Dwivedi</dc:creator>
  <cp:keywords/>
  <dc:description>generated using python-pptx</dc:description>
  <cp:lastModifiedBy>Hecker Dwivedi</cp:lastModifiedBy>
  <cp:revision>3</cp:revision>
  <dcterms:created xsi:type="dcterms:W3CDTF">2013-01-27T09:14:16Z</dcterms:created>
  <dcterms:modified xsi:type="dcterms:W3CDTF">2026-10-25T05:12:17Z</dcterms:modified>
  <cp:category/>
</cp:coreProperties>
</file>